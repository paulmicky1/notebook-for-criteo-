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BC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Criteo Campaign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Data-Driven Insights for CTR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CC1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06B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Analyzed 100,000 display ad impressions with 7.86% overall CTR</a:t>
            </a:r>
          </a:p>
          <a:p>
            <a:pPr>
              <a:spcAft>
                <a:spcPts val="1200"/>
              </a:spcAft>
              <a:defRPr sz="2000"/>
            </a:pPr>
            <a:r>
              <a:t>Mobile devices show +41.9% better performance than desktop</a:t>
            </a:r>
          </a:p>
          <a:p>
            <a:pPr>
              <a:spcAft>
                <a:spcPts val="1200"/>
              </a:spcAft>
              <a:defRPr sz="2000"/>
            </a:pPr>
            <a:r>
              <a:t>Peak hours (9-11 AM, 7-9 PM) drive +25.9% higher CTR</a:t>
            </a:r>
          </a:p>
          <a:p>
            <a:pPr>
              <a:spcAft>
                <a:spcPts val="1200"/>
              </a:spcAft>
              <a:defRPr sz="2000"/>
            </a:pPr>
            <a:r>
              <a:t>Machine learning model achieves 55.53% prediction accuracy (ROC AUC)</a:t>
            </a:r>
          </a:p>
          <a:p>
            <a:pPr>
              <a:spcAft>
                <a:spcPts val="1200"/>
              </a:spcAft>
              <a:defRPr sz="2000"/>
            </a:pPr>
            <a:r>
              <a:t>Potential 25-30% revenue increase with optimized targeting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CC1"/>
                </a:solidFill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06B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CC1"/>
                </a:solidFill>
              </a:defRPr>
            </a:pPr>
            <a:r>
              <a:t>100,000</a:t>
            </a:r>
          </a:p>
          <a:p>
            <a:pPr algn="ctr">
              <a:defRPr sz="1400"/>
            </a:pPr>
            <a:r>
              <a:t>Total Impressions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CC1"/>
                </a:solidFill>
              </a:defRPr>
            </a:pPr>
            <a:r>
              <a:t>7,863</a:t>
            </a:r>
          </a:p>
          <a:p>
            <a:pPr algn="ctr">
              <a:defRPr sz="1400"/>
            </a:pPr>
            <a:r>
              <a:t>Total Clicks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CC1"/>
                </a:solidFill>
              </a:defRPr>
            </a:pPr>
            <a:r>
              <a:t>7.86%</a:t>
            </a:r>
          </a:p>
          <a:p>
            <a:pPr algn="ctr">
              <a:defRPr sz="1400"/>
            </a:pPr>
            <a:r>
              <a:t>Overall CTR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CC1"/>
                </a:solidFill>
              </a:defRPr>
            </a:pPr>
            <a:r>
              <a:t>$2.50</a:t>
            </a:r>
          </a:p>
          <a:p>
            <a:pPr algn="ctr">
              <a:defRPr sz="1400"/>
            </a:pPr>
            <a:r>
              <a:t>Avg Bid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/>
            </a:pPr>
            <a:r>
              <a:t>Device Types: Mobile, Desktop, Tablet</a:t>
            </a:r>
          </a:p>
          <a:p>
            <a:pPr>
              <a:spcAft>
                <a:spcPts val="1200"/>
              </a:spcAft>
              <a:defRPr sz="1600"/>
            </a:pPr>
            <a:r>
              <a:t>Time Dimensions: 24-hour granularity across all campaigns</a:t>
            </a:r>
          </a:p>
          <a:p>
            <a:pPr>
              <a:spcAft>
                <a:spcPts val="1200"/>
              </a:spcAft>
              <a:defRPr sz="1600"/>
            </a:pPr>
            <a:r>
              <a:t>Site Categories: News, Sports, Entertainment, Tech, Shopping, Social</a:t>
            </a:r>
          </a:p>
          <a:p>
            <a:pPr>
              <a:spcAft>
                <a:spcPts val="1200"/>
              </a:spcAft>
              <a:defRPr sz="1600"/>
            </a:pPr>
            <a:r>
              <a:t>Bid Range: $0.01 - $5.00 per impression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CC1"/>
                </a:solidFill>
              </a:defRPr>
            </a:pPr>
            <a:r>
              <a:t>CTR Performance by Device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06B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39626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CC1"/>
                </a:solidFill>
              </a:defRPr>
            </a:pPr>
            <a:r>
              <a:t>CTR Performance by Hour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06B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36230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CC1"/>
                </a:solidFill>
              </a:defRPr>
            </a:pPr>
            <a:r>
              <a:t>CTR by Site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06B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39701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CC1"/>
                </a:solidFill>
              </a:defRPr>
            </a:pPr>
            <a:r>
              <a:t>Predictive Model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06B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/>
            </a:pPr>
            <a:r>
              <a:t>Model: Random Forest Classifier</a:t>
            </a:r>
          </a:p>
          <a:p>
            <a:pPr>
              <a:spcAft>
                <a:spcPts val="1200"/>
              </a:spcAft>
              <a:defRPr sz="1800"/>
            </a:pPr>
            <a:r>
              <a:t>ROC AUC Score: 0.5553</a:t>
            </a:r>
          </a:p>
          <a:p>
            <a:pPr>
              <a:spcAft>
                <a:spcPts val="1200"/>
              </a:spcAft>
              <a:defRPr sz="1800"/>
            </a:pPr>
            <a:r>
              <a:t>Prediction Accuracy: 55.5%</a:t>
            </a:r>
          </a:p>
          <a:p>
            <a:pPr>
              <a:spcAft>
                <a:spcPts val="1200"/>
              </a:spcAft>
              <a:defRPr sz="1800"/>
            </a:pPr>
            <a:r>
              <a:t>Training Samples: 80,000</a:t>
            </a:r>
          </a:p>
          <a:p>
            <a:pPr>
              <a:spcAft>
                <a:spcPts val="1200"/>
              </a:spcAft>
              <a:defRPr sz="1800"/>
            </a:pPr>
            <a:r>
              <a:t>Test Samples: 20,000</a:t>
            </a:r>
          </a:p>
          <a:p>
            <a:pPr>
              <a:spcAft>
                <a:spcPts val="1200"/>
              </a:spcAft>
              <a:defRPr sz="1800"/>
            </a:pPr>
            <a:r>
              <a:t>Features Used: 14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0" cy="36476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CC1"/>
                </a:solidFill>
              </a:defRPr>
            </a:pPr>
            <a:r>
              <a:t>Top Predictive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06B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7803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CC1"/>
                </a:solidFill>
              </a:defRPr>
            </a:pPr>
            <a:r>
              <a:t>Key Business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06B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BCC1"/>
                </a:solidFill>
              </a:defRPr>
            </a:pPr>
            <a:r>
              <a:t>&gt; Device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Mobile CTR: 8.97% vs Desktop: 6.32%</a:t>
            </a:r>
            <a:br/>
            <a:r>
              <a:t>Mobile performs +41.9%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BCC1"/>
                </a:solidFill>
              </a:defRPr>
            </a:pPr>
            <a:r>
              <a:t>&gt; Timing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Peak Hours CTR: 9.30% vs Off-Peak: 7.39%</a:t>
            </a:r>
            <a:br/>
            <a:r>
              <a:t>Peak hours show +25.9%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BCC1"/>
                </a:solidFill>
              </a:defRPr>
            </a:pPr>
            <a:r>
              <a:t>&gt; Bidding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High Bid (&gt;$3) CTR: 9.26% vs Low Bid: 6.94%</a:t>
            </a:r>
            <a:br/>
            <a:r>
              <a:t>Strategic bidding increases CTR by +33.4%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CC1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06B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6BCC1"/>
                </a:solidFill>
              </a:defRPr>
            </a:pPr>
            <a:r>
              <a:t>1. Increase mobile ad spend by 15-20%</a:t>
            </a:r>
          </a:p>
          <a:p>
            <a:pPr>
              <a:spcAft>
                <a:spcPts val="2000"/>
              </a:spcAft>
              <a:defRPr sz="1600"/>
            </a:pPr>
            <a:r>
              <a:t>   → Capitalize on superior mobile performance</a:t>
            </a:r>
          </a:p>
          <a:p>
            <a:pPr>
              <a:spcAft>
                <a:spcPts val="800"/>
              </a:spcAft>
              <a:defRPr sz="2000" b="1">
                <a:solidFill>
                  <a:srgbClr val="06BCC1"/>
                </a:solidFill>
              </a:defRPr>
            </a:pPr>
            <a:r>
              <a:t>2. Concentrate 60% of budget during peak hours</a:t>
            </a:r>
          </a:p>
          <a:p>
            <a:pPr>
              <a:spcAft>
                <a:spcPts val="2000"/>
              </a:spcAft>
              <a:defRPr sz="1600"/>
            </a:pPr>
            <a:r>
              <a:t>   → Focus on 9-11 AM and 7-9 PM time slots</a:t>
            </a:r>
          </a:p>
          <a:p>
            <a:pPr>
              <a:spcAft>
                <a:spcPts val="800"/>
              </a:spcAft>
              <a:defRPr sz="2000" b="1">
                <a:solidFill>
                  <a:srgbClr val="06BCC1"/>
                </a:solidFill>
              </a:defRPr>
            </a:pPr>
            <a:r>
              <a:t>3. Implement dynamic bidding ($2.50-$4.00)</a:t>
            </a:r>
          </a:p>
          <a:p>
            <a:pPr>
              <a:spcAft>
                <a:spcPts val="2000"/>
              </a:spcAft>
              <a:defRPr sz="1600"/>
            </a:pPr>
            <a:r>
              <a:t>   → Optimize ROI with strategic bid ranges</a:t>
            </a:r>
          </a:p>
          <a:p>
            <a:pPr>
              <a:spcAft>
                <a:spcPts val="800"/>
              </a:spcAft>
              <a:defRPr sz="2000" b="1">
                <a:solidFill>
                  <a:srgbClr val="06BCC1"/>
                </a:solidFill>
              </a:defRPr>
            </a:pPr>
            <a:r>
              <a:t>4. Deploy predictive model for real-time optimization</a:t>
            </a:r>
          </a:p>
          <a:p>
            <a:pPr>
              <a:spcAft>
                <a:spcPts val="2000"/>
              </a:spcAft>
              <a:defRPr sz="1600"/>
            </a:pPr>
            <a:r>
              <a:t>   → Use ML model for automated bid adjustments</a:t>
            </a:r>
          </a:p>
          <a:p>
            <a:pPr>
              <a:spcAft>
                <a:spcPts val="800"/>
              </a:spcAft>
              <a:defRPr sz="2000" b="1">
                <a:solidFill>
                  <a:srgbClr val="06BCC1"/>
                </a:solidFill>
              </a:defRPr>
            </a:pPr>
            <a:r>
              <a:t>5. Prioritize top 3 performing site categories</a:t>
            </a:r>
          </a:p>
          <a:p>
            <a:pPr>
              <a:spcAft>
                <a:spcPts val="2000"/>
              </a:spcAft>
              <a:defRPr sz="1600"/>
            </a:pPr>
            <a:r>
              <a:t>   → Allocate budget to highest-converting categories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CC1"/>
                </a:solidFill>
              </a:defRPr>
            </a:pPr>
            <a:r>
              <a:t>Expected 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06B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defRPr sz="2800" b="1">
                <a:solidFill>
                  <a:srgbClr val="06BCC1"/>
                </a:solidFill>
              </a:defRPr>
            </a:pPr>
            <a:r>
              <a:t>Projected Outcomes</a:t>
            </a:r>
          </a:p>
          <a:p>
            <a:pPr algn="ctr">
              <a:spcAft>
                <a:spcPts val="1500"/>
              </a:spcAft>
              <a:defRPr sz="2000"/>
            </a:pPr>
            <a:r>
              <a:t>Current CTR: 7.86%</a:t>
            </a:r>
          </a:p>
          <a:p>
            <a:pPr algn="ctr">
              <a:spcAft>
                <a:spcPts val="1500"/>
              </a:spcAft>
              <a:defRPr sz="2000"/>
            </a:pPr>
            <a:r>
              <a:t>Projected CTR: 9.83%</a:t>
            </a:r>
          </a:p>
          <a:p>
            <a:pPr algn="ctr">
              <a:spcAft>
                <a:spcPts val="1500"/>
              </a:spcAft>
              <a:defRPr sz="2000"/>
            </a:pPr>
            <a:r>
              <a:t>CTR Improvement: +25.0%</a:t>
            </a:r>
          </a:p>
          <a:p>
            <a:pPr algn="ctr">
              <a:spcAft>
                <a:spcPts val="1500"/>
              </a:spcAft>
              <a:defRPr sz="2000"/>
            </a:pPr>
          </a:p>
          <a:p>
            <a:pPr algn="ctr">
              <a:spcAft>
                <a:spcPts val="1500"/>
              </a:spcAft>
              <a:defRPr sz="2400" b="1">
                <a:solidFill>
                  <a:srgbClr val="E63946"/>
                </a:solidFill>
              </a:defRPr>
            </a:pPr>
            <a:r>
              <a:t>Revenue Impact: +25-30%</a:t>
            </a:r>
          </a:p>
          <a:p>
            <a:pPr algn="ctr">
              <a:spcAft>
                <a:spcPts val="1500"/>
              </a:spcAft>
              <a:defRPr sz="2400" b="1">
                <a:solidFill>
                  <a:srgbClr val="E63946"/>
                </a:solidFill>
              </a:defRPr>
            </a:pPr>
            <a:r>
              <a:t>Campaign Efficiency: +20-25%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CC1"/>
                </a:solidFill>
              </a:defRPr>
            </a:pPr>
            <a:r>
              <a:t>Next Steps &amp;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06B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CC1"/>
                </a:solidFill>
              </a:defRPr>
            </a:pPr>
            <a:r>
              <a:t>Phase 1: Immediate Actions (Week 1-2)</a:t>
            </a:r>
          </a:p>
          <a:p>
            <a:pPr lvl="1">
              <a:spcAft>
                <a:spcPts val="600"/>
              </a:spcAft>
              <a:defRPr sz="1500"/>
            </a:pPr>
            <a:r>
              <a:t>  • Adjust budget allocation to mobile platforms</a:t>
            </a:r>
          </a:p>
          <a:p>
            <a:pPr lvl="1">
              <a:spcAft>
                <a:spcPts val="600"/>
              </a:spcAft>
              <a:defRPr sz="1500"/>
            </a:pPr>
            <a:r>
              <a:t>  • Implement peak-hour scheduling</a:t>
            </a:r>
          </a:p>
          <a:p>
            <a:pPr lvl="1">
              <a:spcAft>
                <a:spcPts val="600"/>
              </a:spcAft>
              <a:defRPr sz="1500"/>
            </a:pPr>
            <a:r>
              <a:t>  • Begin A/B testing with new bid strategies</a:t>
            </a:r>
          </a:p>
          <a:p>
            <a:pPr>
              <a:spcAft>
                <a:spcPts val="15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6BCC1"/>
                </a:solidFill>
              </a:defRPr>
            </a:pPr>
            <a:r>
              <a:t>Phase 2: Model Deployment (Week 3-4)</a:t>
            </a:r>
          </a:p>
          <a:p>
            <a:pPr lvl="1">
              <a:spcAft>
                <a:spcPts val="600"/>
              </a:spcAft>
              <a:defRPr sz="1500"/>
            </a:pPr>
            <a:r>
              <a:t>  • Deploy Random Forest model to production</a:t>
            </a:r>
          </a:p>
          <a:p>
            <a:pPr lvl="1">
              <a:spcAft>
                <a:spcPts val="600"/>
              </a:spcAft>
              <a:defRPr sz="1500"/>
            </a:pPr>
            <a:r>
              <a:t>  • Set up real-time monitoring dashboard</a:t>
            </a:r>
          </a:p>
          <a:p>
            <a:pPr lvl="1">
              <a:spcAft>
                <a:spcPts val="600"/>
              </a:spcAft>
              <a:defRPr sz="1500"/>
            </a:pPr>
            <a:r>
              <a:t>  • Train team on new optimization tools</a:t>
            </a:r>
          </a:p>
          <a:p>
            <a:pPr>
              <a:spcAft>
                <a:spcPts val="15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6BCC1"/>
                </a:solidFill>
              </a:defRPr>
            </a:pPr>
            <a:r>
              <a:t>Phase 3: Optimization (Month 2+)</a:t>
            </a:r>
          </a:p>
          <a:p>
            <a:pPr lvl="1">
              <a:spcAft>
                <a:spcPts val="600"/>
              </a:spcAft>
              <a:defRPr sz="1500"/>
            </a:pPr>
            <a:r>
              <a:t>  • Fine-tune model parameters based on results</a:t>
            </a:r>
          </a:p>
          <a:p>
            <a:pPr lvl="1">
              <a:spcAft>
                <a:spcPts val="600"/>
              </a:spcAft>
              <a:defRPr sz="1500"/>
            </a:pPr>
            <a:r>
              <a:t>  • Expand to additional campaign segments</a:t>
            </a:r>
          </a:p>
          <a:p>
            <a:pPr lvl="1">
              <a:spcAft>
                <a:spcPts val="600"/>
              </a:spcAft>
              <a:defRPr sz="1500"/>
            </a:pPr>
            <a:r>
              <a:t>  • Continuous improvement and iteration</a:t>
            </a:r>
          </a:p>
          <a:p>
            <a:pPr>
              <a:spcAft>
                <a:spcPts val="1500"/>
              </a:spcAft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BC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